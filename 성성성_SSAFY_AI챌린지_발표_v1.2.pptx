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72" r:id="rId2"/>
    <p:sldId id="258" r:id="rId3"/>
    <p:sldId id="273" r:id="rId4"/>
    <p:sldId id="259" r:id="rId5"/>
    <p:sldId id="275" r:id="rId6"/>
    <p:sldId id="274" r:id="rId7"/>
    <p:sldId id="265" r:id="rId8"/>
    <p:sldId id="267" r:id="rId9"/>
    <p:sldId id="268" r:id="rId10"/>
    <p:sldId id="269" r:id="rId11"/>
  </p:sldIdLst>
  <p:sldSz cx="18288000" cy="10287000"/>
  <p:notesSz cx="6858000" cy="9144000"/>
  <p:embeddedFontLst>
    <p:embeddedFont>
      <p:font typeface="Heebo ExtraLight" panose="020B0600000101010101" charset="-127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eebo ExtraBold" pitchFamily="2" charset="-79"/>
      <p:bold r:id="rId18"/>
    </p:embeddedFont>
    <p:embeddedFont>
      <p:font typeface="Lexend Bold" panose="020B0600000101010101" charset="0"/>
      <p:bold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74" autoAdjust="0"/>
  </p:normalViewPr>
  <p:slideViewPr>
    <p:cSldViewPr snapToGrid="0">
      <p:cViewPr varScale="1">
        <p:scale>
          <a:sx n="90" d="100"/>
          <a:sy n="90" d="100"/>
        </p:scale>
        <p:origin x="1176" y="10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제출 정확도</c:v>
          </c:tx>
          <c:spPr>
            <a:solidFill>
              <a:srgbClr val="00000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3E6C-403E-BB8F-3AF70F690CFC}"/>
              </c:ext>
            </c:extLst>
          </c:dPt>
          <c:dPt>
            <c:idx val="1"/>
            <c:invertIfNegative val="0"/>
            <c:bubble3D val="0"/>
            <c:spPr>
              <a:solidFill>
                <a:srgbClr val="31A89D"/>
              </a:solidFill>
            </c:spPr>
            <c:extLst>
              <c:ext xmlns:c16="http://schemas.microsoft.com/office/drawing/2014/chart" uri="{C3380CC4-5D6E-409C-BE32-E72D297353CC}">
                <c16:uniqueId val="{00000003-3E6C-403E-BB8F-3AF70F690CFC}"/>
              </c:ext>
            </c:extLst>
          </c:dPt>
          <c:dLbls>
            <c:dLbl>
              <c:idx val="0"/>
              <c:layout>
                <c:manualLayout>
                  <c:x val="1.3888888888888889E-3"/>
                  <c:y val="0.3975308641975308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6C-403E-BB8F-3AF70F690CFC}"/>
                </c:ext>
              </c:extLst>
            </c:dLbl>
            <c:dLbl>
              <c:idx val="1"/>
              <c:layout>
                <c:manualLayout>
                  <c:x val="1.3888888888888889E-3"/>
                  <c:y val="0.3876543209876542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6C-403E-BB8F-3AF70F690C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700" b="1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프로토타입 3B</c:v>
                </c:pt>
                <c:pt idx="1">
                  <c:v>최종 32B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88.471000000000004</c:v>
                </c:pt>
                <c:pt idx="1">
                  <c:v>97.08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E6C-403E-BB8F-3AF70F690C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000000"/>
            </a:solidFill>
          </a:ln>
        </c:spPr>
        <c:txPr>
          <a:bodyPr anchorCtr="1"/>
          <a:lstStyle/>
          <a:p>
            <a:pPr>
              <a:defRPr sz="2325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SSAFY 16기 2회차 AI 챌린지에 참여한 성성성입니다. 텍스트 이미지 기반 VQA 모델을 기본 코드에서 프로토타입, 8B 검증 실험, 32B 최종 모델 순서로 개선한 과정을 발표하겠습니다. 최종 제출 정확도는 0.96931입니다.</a:t>
            </a:r>
          </a:p>
          <a:p>
            <a:r>
              <a:t>출처: 사용자 제공 대회 개요와 제출 점수. 사용자가 0.96931은 vqa_qwen3vl_final (2).ipynb의 32B 결과임을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794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대회</a:t>
            </a:r>
            <a:r>
              <a:rPr dirty="0"/>
              <a:t> </a:t>
            </a:r>
            <a:r>
              <a:rPr dirty="0" err="1"/>
              <a:t>과제는</a:t>
            </a:r>
            <a:r>
              <a:rPr dirty="0"/>
              <a:t> </a:t>
            </a:r>
            <a:r>
              <a:rPr dirty="0" err="1"/>
              <a:t>이미지와</a:t>
            </a:r>
            <a:r>
              <a:rPr dirty="0"/>
              <a:t>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, 네 개 </a:t>
            </a:r>
            <a:r>
              <a:rPr dirty="0" err="1"/>
              <a:t>선택지를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한 </a:t>
            </a:r>
            <a:r>
              <a:rPr dirty="0" err="1"/>
              <a:t>글자를</a:t>
            </a:r>
            <a:r>
              <a:rPr dirty="0"/>
              <a:t> </a:t>
            </a:r>
            <a:r>
              <a:rPr dirty="0" err="1"/>
              <a:t>고르는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  <a:endParaRPr lang="en-US" dirty="0"/>
          </a:p>
          <a:p>
            <a:r>
              <a:rPr dirty="0" err="1"/>
              <a:t>이미지에서</a:t>
            </a:r>
            <a:r>
              <a:rPr dirty="0"/>
              <a:t> </a:t>
            </a:r>
            <a:r>
              <a:rPr dirty="0" err="1"/>
              <a:t>글씨를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</a:t>
            </a:r>
            <a:r>
              <a:rPr dirty="0" err="1"/>
              <a:t>능력과</a:t>
            </a:r>
            <a:r>
              <a:rPr dirty="0"/>
              <a:t>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가리키는</a:t>
            </a:r>
            <a:r>
              <a:rPr dirty="0"/>
              <a:t> </a:t>
            </a:r>
            <a:r>
              <a:rPr dirty="0" err="1"/>
              <a:t>대상을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능력이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학습은 </a:t>
            </a:r>
            <a:r>
              <a:rPr lang="en-US" altLang="ko-KR" dirty="0"/>
              <a:t>Google </a:t>
            </a:r>
            <a:r>
              <a:rPr lang="en-US" altLang="ko-KR" dirty="0" err="1"/>
              <a:t>Colab</a:t>
            </a:r>
            <a:r>
              <a:rPr lang="en-US" altLang="ko-KR" dirty="0"/>
              <a:t> </a:t>
            </a:r>
            <a:r>
              <a:rPr lang="ko-KR" altLang="en-US" dirty="0"/>
              <a:t>환경에서 진행했으며</a:t>
            </a:r>
            <a:r>
              <a:rPr lang="en-US" altLang="ko-KR" dirty="0"/>
              <a:t>, NVIDIA RTX PRO 6000 Blackwell Server Edition GPU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데이터는 </a:t>
            </a:r>
            <a:r>
              <a:rPr lang="en-US" altLang="ko-KR" dirty="0"/>
              <a:t>Train</a:t>
            </a:r>
            <a:r>
              <a:rPr lang="ko-KR" altLang="en-US" dirty="0"/>
              <a:t>과 </a:t>
            </a:r>
            <a:r>
              <a:rPr lang="en-US" altLang="ko-KR" dirty="0"/>
              <a:t>Test</a:t>
            </a:r>
            <a:r>
              <a:rPr lang="ko-KR" altLang="en-US" dirty="0"/>
              <a:t>가 각각 </a:t>
            </a:r>
            <a:r>
              <a:rPr lang="en-US" altLang="ko-KR" dirty="0"/>
              <a:t>6,714</a:t>
            </a:r>
            <a:r>
              <a:rPr lang="ko-KR" altLang="en-US" dirty="0"/>
              <a:t>개로 구성되어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모델은 </a:t>
            </a:r>
            <a:r>
              <a:rPr lang="en-US" altLang="ko-KR" dirty="0"/>
              <a:t>Qwen3-VL-32B-Instruct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 Epoch </a:t>
            </a:r>
            <a:r>
              <a:rPr lang="ko-KR" altLang="en-US" dirty="0"/>
              <a:t>동안 학습을 진행했습니다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선택지의 위치에 </a:t>
            </a:r>
            <a:r>
              <a:rPr lang="ko-KR" altLang="en-US" dirty="0" err="1"/>
              <a:t>과적합되는</a:t>
            </a:r>
            <a:r>
              <a:rPr lang="ko-KR" altLang="en-US" dirty="0"/>
              <a:t> 것을 방지하기 위해 </a:t>
            </a:r>
            <a:r>
              <a:rPr lang="en-US" altLang="ko-KR" dirty="0"/>
              <a:t>Random Option Permutation </a:t>
            </a:r>
            <a:r>
              <a:rPr lang="ko-KR" altLang="en-US" dirty="0"/>
              <a:t>기법을 적용했습니다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594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 고도화는 크게 세 단계로 이루어졌습니다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처음 베이스라인 코드에서 일부 수정을 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모델 버전을 높여 </a:t>
            </a:r>
            <a:r>
              <a:rPr lang="en-US" altLang="ko-KR" dirty="0"/>
              <a:t>8B </a:t>
            </a:r>
            <a:r>
              <a:rPr lang="ko-KR" altLang="en-US" dirty="0"/>
              <a:t>모델에서 전략을 검증하고</a:t>
            </a:r>
            <a:r>
              <a:rPr lang="en-US" altLang="ko-KR" dirty="0"/>
              <a:t>, 32B</a:t>
            </a:r>
            <a:r>
              <a:rPr lang="ko-KR" altLang="en-US" dirty="0"/>
              <a:t>로 확장한 최종 제출에서 </a:t>
            </a:r>
            <a:r>
              <a:rPr lang="en-US" altLang="ko-KR" dirty="0"/>
              <a:t>96.931%</a:t>
            </a:r>
            <a:r>
              <a:rPr lang="ko-KR" altLang="en-US" dirty="0"/>
              <a:t>를 얻었습니다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805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이후 </a:t>
            </a:r>
            <a:r>
              <a:rPr lang="en-US" dirty="0"/>
              <a:t>Baseline</a:t>
            </a:r>
            <a:r>
              <a:rPr lang="ko-KR" altLang="en-US" dirty="0"/>
              <a:t>코드에서 다음 다섯가지 관점에 대한 전략을 취했습니다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정답 중심 학습</a:t>
            </a:r>
            <a:r>
              <a:rPr lang="en-US" altLang="ko-KR" dirty="0"/>
              <a:t> -&gt; , </a:t>
            </a:r>
            <a:r>
              <a:rPr lang="ko-KR" altLang="en-US" dirty="0"/>
              <a:t>질문과 선택지 문장까지 재현 </a:t>
            </a:r>
            <a:r>
              <a:rPr lang="en-US" altLang="ko-KR" dirty="0"/>
              <a:t>-&gt; </a:t>
            </a:r>
            <a:r>
              <a:rPr lang="ko-KR" altLang="en-US" dirty="0"/>
              <a:t>손실 감소하도록 학습해도 실제 정답 선택 능력은 크게 늘지 않을 수 있음</a:t>
            </a:r>
            <a:endParaRPr lang="en-US" altLang="ko-KR" dirty="0"/>
          </a:p>
          <a:p>
            <a:r>
              <a:rPr lang="ko-KR" altLang="en-US" dirty="0"/>
              <a:t>이미지 해상도 향상 </a:t>
            </a:r>
            <a:r>
              <a:rPr lang="en-US" altLang="ko-KR" dirty="0"/>
              <a:t>-&gt; </a:t>
            </a:r>
            <a:r>
              <a:rPr lang="ko-KR" altLang="en-US" dirty="0"/>
              <a:t>이미지 속 작은 글씨와 숫자를 더 구별하기 쉬워</a:t>
            </a:r>
            <a:endParaRPr lang="en-US" altLang="ko-KR" dirty="0"/>
          </a:p>
          <a:p>
            <a:r>
              <a:rPr lang="ko-KR" altLang="en-US" dirty="0"/>
              <a:t>학습 데이터 확대</a:t>
            </a:r>
            <a:r>
              <a:rPr lang="en-US" altLang="ko-KR" dirty="0">
                <a:sym typeface="Wingdings" panose="05000000000000000000" pitchFamily="2" charset="2"/>
              </a:rPr>
              <a:t> 200</a:t>
            </a:r>
            <a:r>
              <a:rPr lang="ko-KR" altLang="en-US" dirty="0">
                <a:sym typeface="Wingdings" panose="05000000000000000000" pitchFamily="2" charset="2"/>
              </a:rPr>
              <a:t>개 </a:t>
            </a:r>
            <a:r>
              <a:rPr lang="en-US" altLang="ko-KR" dirty="0">
                <a:sym typeface="Wingdings" panose="05000000000000000000" pitchFamily="2" charset="2"/>
              </a:rPr>
              <a:t>-&gt;90%</a:t>
            </a:r>
            <a:br>
              <a:rPr lang="en-US" altLang="ko-KR" dirty="0"/>
            </a:br>
            <a:r>
              <a:rPr lang="en-US" altLang="ko-KR" dirty="0"/>
              <a:t>alpha/r </a:t>
            </a:r>
            <a:r>
              <a:rPr lang="ko-KR" altLang="en-US" dirty="0"/>
              <a:t>비율을 </a:t>
            </a:r>
            <a:r>
              <a:rPr lang="en-US" altLang="ko-KR" dirty="0"/>
              <a:t>2 </a:t>
            </a:r>
            <a:r>
              <a:rPr lang="ko-KR" altLang="en-US" dirty="0"/>
              <a:t>유지하며 </a:t>
            </a:r>
            <a:r>
              <a:rPr lang="en-US" altLang="ko-KR" dirty="0"/>
              <a:t>rank </a:t>
            </a:r>
            <a:r>
              <a:rPr lang="ko-KR" altLang="en-US" dirty="0"/>
              <a:t>증가</a:t>
            </a:r>
            <a:r>
              <a:rPr lang="en-US" altLang="ko-KR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091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여러 실험을 하며 </a:t>
            </a:r>
            <a:r>
              <a:rPr lang="ko-KR" altLang="en-US" dirty="0" err="1"/>
              <a:t>고도화하였습니다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 err="1"/>
              <a:t>에폭</a:t>
            </a:r>
            <a:r>
              <a:rPr lang="ko-KR" altLang="en-US" dirty="0"/>
              <a:t> 학습에서는 </a:t>
            </a:r>
            <a:r>
              <a:rPr lang="en-US" altLang="ko-KR" dirty="0"/>
              <a:t>635</a:t>
            </a:r>
            <a:r>
              <a:rPr lang="ko-KR" altLang="en-US" dirty="0"/>
              <a:t>문항을 맞혔고</a:t>
            </a:r>
            <a:r>
              <a:rPr lang="en-US" altLang="ko-KR" dirty="0"/>
              <a:t>, 2</a:t>
            </a:r>
            <a:r>
              <a:rPr lang="ko-KR" altLang="en-US" dirty="0" err="1"/>
              <a:t>에폭까지</a:t>
            </a:r>
            <a:r>
              <a:rPr lang="ko-KR" altLang="en-US" dirty="0"/>
              <a:t> 학습하자 정답이 </a:t>
            </a:r>
            <a:r>
              <a:rPr lang="en-US" altLang="ko-KR" dirty="0"/>
              <a:t>3</a:t>
            </a:r>
            <a:r>
              <a:rPr lang="ko-KR" altLang="en-US" dirty="0"/>
              <a:t>개 늘어 정확도 약 </a:t>
            </a:r>
            <a:r>
              <a:rPr lang="en-US" altLang="ko-KR" dirty="0"/>
              <a:t>95.22%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이후 같은 문제의 선택지 순서를 네 가지로 바꿔 풀고 결과를 합치는 </a:t>
            </a:r>
            <a:r>
              <a:rPr lang="en-US" altLang="ko-KR" dirty="0"/>
              <a:t>TTA</a:t>
            </a:r>
            <a:r>
              <a:rPr lang="ko-KR" altLang="en-US" dirty="0"/>
              <a:t>를 적용했습니다</a:t>
            </a:r>
            <a:r>
              <a:rPr lang="en-US" altLang="ko-KR" dirty="0"/>
              <a:t>. </a:t>
            </a:r>
            <a:r>
              <a:rPr lang="ko-KR" altLang="en-US" dirty="0"/>
              <a:t>그 결과 정답이 </a:t>
            </a:r>
            <a:r>
              <a:rPr lang="en-US" altLang="ko-KR" dirty="0"/>
              <a:t>2</a:t>
            </a:r>
            <a:r>
              <a:rPr lang="ko-KR" altLang="en-US" dirty="0"/>
              <a:t>개 더 늘어 약 </a:t>
            </a:r>
            <a:r>
              <a:rPr lang="en-US" altLang="ko-KR" dirty="0"/>
              <a:t>95.52%</a:t>
            </a:r>
            <a:r>
              <a:rPr lang="ko-KR" altLang="en-US" dirty="0"/>
              <a:t>까지 향상됐습니다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해상도를 높여 다시 푸는 경우도 실험해 보았으나</a:t>
            </a:r>
            <a:r>
              <a:rPr lang="en-US" altLang="ko-KR" dirty="0"/>
              <a:t>, </a:t>
            </a:r>
            <a:r>
              <a:rPr lang="ko-KR" altLang="en-US" dirty="0"/>
              <a:t>추가적으로 맞춘 문항이 없었습니다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결론적으로 </a:t>
            </a:r>
            <a:r>
              <a:rPr lang="en-US" altLang="ko-KR" dirty="0"/>
              <a:t>2</a:t>
            </a:r>
            <a:r>
              <a:rPr lang="ko-KR" altLang="en-US" dirty="0" err="1"/>
              <a:t>에폭</a:t>
            </a:r>
            <a:r>
              <a:rPr lang="ko-KR" altLang="en-US" dirty="0"/>
              <a:t> 학습 모델과 선택지 순열 </a:t>
            </a:r>
            <a:r>
              <a:rPr lang="en-US" altLang="ko-KR" dirty="0"/>
              <a:t>TTA</a:t>
            </a:r>
            <a:r>
              <a:rPr lang="ko-KR" altLang="en-US" dirty="0"/>
              <a:t>를 채택했고</a:t>
            </a:r>
            <a:r>
              <a:rPr lang="en-US" altLang="ko-KR" dirty="0"/>
              <a:t>, </a:t>
            </a:r>
            <a:r>
              <a:rPr lang="ko-KR" altLang="en-US" dirty="0"/>
              <a:t>내부 검증 정확도 </a:t>
            </a:r>
            <a:r>
              <a:rPr lang="en-US" altLang="ko-KR" dirty="0"/>
              <a:t>95.52%</a:t>
            </a:r>
            <a:r>
              <a:rPr lang="ko-KR" altLang="en-US" dirty="0"/>
              <a:t>를 확보했습니다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이후 모델 사이즈를 더 키워 최종적으로 </a:t>
            </a:r>
            <a:r>
              <a:rPr dirty="0" err="1"/>
              <a:t>최종</a:t>
            </a:r>
            <a:r>
              <a:rPr dirty="0"/>
              <a:t> Qwen3-VL-32B-Instruc</a:t>
            </a:r>
            <a:r>
              <a:rPr lang="en-US" dirty="0"/>
              <a:t>t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BCA5-0CDE-46F4-B52E-31091B538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B8FDE-3694-4361-89C9-40767648D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FD15C-22C3-4045-9C2E-F989E1C70D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445E-EA3B-4598-853A-F1FB216330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4D56-A177-44B7-9ABB-2F713A6ECF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87BB-D230-4520-9859-33FC0824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58101-FE14-4E3C-87A4-D39BA49A0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B5E55-0450-4AB9-9A45-9E41160BD6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8D60-D248-46CF-9DD8-4702BDCB0F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0A450-C88E-4134-8F54-BA3A7628F8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B9EF-86FA-4070-B1B0-1A520315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7A34E-2141-4AB4-9A60-FD2E09A71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66ECC-E3B7-4340-A9BF-4869C01B16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F90BA-5F04-440D-9327-43B2A134E9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E9707-17AF-4591-8956-528B03173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27ED-B476-41F6-80D2-D596AF93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8F098-A51D-484F-84D8-9025DAA77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5E8C1-CD8F-43F0-9F7D-191EB3EB78F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0BFCD-7A52-4676-A3D4-4E66F18F56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C8BCE-77D4-4820-8EAA-0A38F8ADA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6BA7E-A555-4BD6-9AA8-2CA2963289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4270-24AC-4076-93DD-2C3D3FC8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B2656-83ED-430C-AE4E-56FBD0A6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5E7A8-FC0F-4A18-A079-3D267118458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F29A5-3D8A-4B72-9BA6-B6D5AD1F004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AD4D8-6A24-4630-A1F0-0D0A31E1740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EA0C4-9962-4683-8519-91F556C99D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40AAB-047B-4D4D-9CD4-A29EF038CA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EAC75-B49A-4F10-830B-FA1C2EB0B2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13019-4AD8-4E5C-9312-98929191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B1BE1-DDF0-423E-B9A4-D8D8D1E2EF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12710-A92E-4221-869F-322CEE9CD7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B42B2-CB8C-4FC8-A877-DA2EDCAF4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6C940-1766-4048-9886-46DB997FB7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26E66-8E05-45D0-9909-39324E36CC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8E1E-8564-4A65-AAC3-FE7922AF38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54C5-A392-4E6C-884A-616C6AE6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8C1F8-8065-4E9D-9198-4E0F6D391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D48B2-CE70-4A47-982F-F40B3FA9680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E0871-E3C4-4370-A39F-B7933CC729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201B5-5A17-42C0-BED5-633FFC1A37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9694B-2C80-47B0-AF1D-F18446CD0B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595B-A212-4ED4-A739-D1498CD0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C0A05-9980-4A92-87E5-3F80CE44D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51A59-9F03-4306-A72F-6ED8610A4A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643BE-AC6D-47DD-BC76-E586E2B9BD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7C751-53BF-441D-979F-2E234AD43F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FC752-4D0F-4B79-8947-54890B37C7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C4D0-1416-4F5A-99DD-A3873FE6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DAD56-E45A-4C19-99DA-4EA4EFABA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4182-6E4F-44F0-9FE0-132E023632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7C9B-33F9-4E17-86CA-5E7CD2D019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30207-7F7B-40FF-B421-DE74A33C5E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BF9F5-9621-43B6-9640-B59222D8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CC206-BFD0-4264-A776-B5AD3446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A66A-DD10-4D63-B4CF-E94DAA154A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E7C6-F3DA-4116-ACA6-0EC75DED76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23AAA-0570-4677-ACBA-3D296F15D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9FC77-B2F5-4495-AF76-CAABEC29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5B019-4870-4465-B680-F1D60324D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BEAB7-12C8-4EEC-A289-CC5C8C2407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2026-09-23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3CF0-7421-4E01-8669-7E84996FA5B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9A99E-6E59-473C-AAAA-09FFA61ED7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10" Type="http://schemas.openxmlformats.org/officeDocument/2006/relationships/image" Target="../media/image16.svg"/><Relationship Id="rId4" Type="http://schemas.openxmlformats.org/officeDocument/2006/relationships/image" Target="../media/image5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3.png"/><Relationship Id="rId5" Type="http://schemas.openxmlformats.org/officeDocument/2006/relationships/image" Target="../media/image6.sv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5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2044700"/>
            <a:ext cx="977900" cy="6197600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2044700"/>
            <a:ext cx="977900" cy="2019300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48100" y="9283700"/>
            <a:ext cx="355600" cy="355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ED09E2DA-CAE3-4184-BE73-E13348CA31DD}"/>
              </a:ext>
            </a:extLst>
          </p:cNvPr>
          <p:cNvSpPr>
            <a:spLocks noGrp="1"/>
          </p:cNvSpPr>
          <p:nvPr/>
        </p:nvSpPr>
        <p:spPr>
          <a:xfrm>
            <a:off x="143383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59883CF-42FB-4710-AF05-150D52DB69F7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챌린지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E9AEBC-5F1C-4929-9487-F86843101540}"/>
              </a:ext>
            </a:extLst>
          </p:cNvPr>
          <p:cNvSpPr>
            <a:spLocks noGrp="1"/>
          </p:cNvSpPr>
          <p:nvPr/>
        </p:nvSpPr>
        <p:spPr>
          <a:xfrm>
            <a:off x="1838325" y="2044700"/>
            <a:ext cx="10198100" cy="4876229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lang="ko-KR" altLang="en-US" sz="96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팀 </a:t>
            </a:r>
            <a:r>
              <a:rPr lang="ko-KR" altLang="en-US" sz="96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  <a:endParaRPr lang="en-US" altLang="ko-KR" sz="96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12000"/>
              </a:lnSpc>
              <a:buNone/>
            </a:pPr>
            <a:endParaRPr lang="en-US" sz="30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12000"/>
              </a:lnSpc>
              <a:buNone/>
            </a:pPr>
            <a:r>
              <a:rPr sz="600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텍스트</a:t>
            </a:r>
            <a:r>
              <a:rPr sz="600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00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</a:t>
            </a:r>
            <a:r>
              <a:rPr lang="en-US" sz="600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00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VQA </a:t>
            </a:r>
            <a:r>
              <a:rPr sz="600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600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12000"/>
              </a:lnSpc>
              <a:buNone/>
            </a:pPr>
            <a:r>
              <a:rPr sz="600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고도화</a:t>
            </a:r>
            <a:r>
              <a:rPr sz="600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00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과정</a:t>
            </a:r>
            <a:endParaRPr sz="600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36A2E3A-BB96-43BF-8B27-CA7FB5AA8094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779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F11617-2D50-4EE4-A7D0-8B6A52795765}"/>
              </a:ext>
            </a:extLst>
          </p:cNvPr>
          <p:cNvSpPr>
            <a:spLocks noGrp="1"/>
          </p:cNvSpPr>
          <p:nvPr/>
        </p:nvSpPr>
        <p:spPr>
          <a:xfrm>
            <a:off x="12781336" y="7478410"/>
            <a:ext cx="4541464" cy="1283305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20000"/>
              </a:lnSpc>
              <a:buNone/>
            </a:pPr>
            <a:r>
              <a:rPr lang="ko-KR" altLang="en-US" sz="2625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팀장</a:t>
            </a:r>
            <a:r>
              <a:rPr lang="ko-KR" altLang="en-US" sz="2625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lang="ko-KR" altLang="en-US" sz="240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김규성</a:t>
            </a:r>
            <a:endParaRPr lang="en-US" altLang="ko-KR" sz="240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>
              <a:lnSpc>
                <a:spcPct val="120000"/>
              </a:lnSpc>
              <a:buNone/>
            </a:pPr>
            <a:endParaRPr sz="5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>
              <a:lnSpc>
                <a:spcPct val="120000"/>
              </a:lnSpc>
              <a:buNone/>
            </a:pPr>
            <a:r>
              <a:rPr lang="ko-KR" altLang="en-US" sz="2625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팀원</a:t>
            </a:r>
            <a:r>
              <a:rPr lang="ko-KR" altLang="en-US" sz="2625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lang="ko-KR" altLang="en-US" sz="24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허성진</a:t>
            </a:r>
            <a:r>
              <a:rPr lang="en-US" altLang="ko-KR" sz="24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박지수</a:t>
            </a:r>
            <a:r>
              <a:rPr lang="en-US" altLang="ko-KR" sz="240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24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박성윤</a:t>
            </a:r>
            <a:endParaRPr sz="24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8940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D4424AF-71AC-422E-B06A-C3FB4D79DAA2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챌린지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9C7CD2-583D-4AE1-BF7C-9DA6FFC28555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대회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과제</a:t>
            </a:r>
            <a:endParaRPr sz="57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5ABA96-A5DC-4D4D-BDB3-1A65B2752929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838B1F-04DC-482B-8E0B-43905B6CCD54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DFA267-3B19-4691-8DF9-F7BEF5CC8000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DF5F35A-2C0A-4F00-91A1-CF7F824A9221}"/>
              </a:ext>
            </a:extLst>
          </p:cNvPr>
          <p:cNvSpPr>
            <a:spLocks noGrp="1"/>
          </p:cNvSpPr>
          <p:nvPr/>
        </p:nvSpPr>
        <p:spPr>
          <a:xfrm>
            <a:off x="2220880" y="5130223"/>
            <a:ext cx="8286750" cy="22383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+ 4개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선택지</a:t>
            </a:r>
            <a:endParaRPr sz="255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출력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a, b, c, d 중 한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글자</a:t>
            </a:r>
            <a:endParaRPr sz="255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Accuracy</a:t>
            </a:r>
          </a:p>
          <a:p>
            <a:pPr lvl="0" algn="l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환경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Colab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Pro / Notebook(.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ipynb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A394420-FE5F-4541-97C1-616B86592167}"/>
              </a:ext>
            </a:extLst>
          </p:cNvPr>
          <p:cNvSpPr>
            <a:spLocks noGrp="1"/>
          </p:cNvSpPr>
          <p:nvPr/>
        </p:nvSpPr>
        <p:spPr>
          <a:xfrm>
            <a:off x="2224055" y="4203771"/>
            <a:ext cx="7988300" cy="596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285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</a:t>
            </a:r>
            <a:r>
              <a:rPr sz="285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속 </a:t>
            </a:r>
            <a:r>
              <a:rPr sz="285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텍스트를</a:t>
            </a:r>
            <a:r>
              <a:rPr sz="285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85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읽고</a:t>
            </a:r>
            <a:r>
              <a:rPr sz="285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85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285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85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 sz="285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344539" y="3788159"/>
            <a:ext cx="5191125" cy="389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4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D4424AF-71AC-422E-B06A-C3FB4D79DAA2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9C7CD2-583D-4AE1-BF7C-9DA6FFC28555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lang="ko-KR" alt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작업 환경</a:t>
            </a:r>
            <a:endParaRPr sz="57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5ABA96-A5DC-4D4D-BDB3-1A65B2752929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838B1F-04DC-482B-8E0B-43905B6CCD54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DFA267-3B19-4691-8DF9-F7BEF5CC8000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667920C-566E-4833-939C-27A13CA58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600" y="3378200"/>
            <a:ext cx="3162300" cy="3175000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DF9ADA0A-DBCA-46BA-AE51-BC7EE4994C1B}"/>
              </a:ext>
            </a:extLst>
          </p:cNvPr>
          <p:cNvSpPr txBox="1"/>
          <p:nvPr/>
        </p:nvSpPr>
        <p:spPr>
          <a:xfrm>
            <a:off x="1879600" y="6807200"/>
            <a:ext cx="32639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9479"/>
              </a:lnSpc>
            </a:pPr>
            <a:r>
              <a:rPr lang="en-US" sz="2799" b="0" i="0" u="none" strike="noStrike" dirty="0" err="1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Colab</a:t>
            </a:r>
            <a:r>
              <a:rPr lang="en-US" sz="2799" dirty="0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 / GPU</a:t>
            </a:r>
            <a:endParaRPr lang="en-US" sz="2799" b="0" i="0" u="none" strike="noStrike" dirty="0">
              <a:solidFill>
                <a:srgbClr val="000000"/>
              </a:solidFill>
              <a:latin typeface="Heebo ExtraBold"/>
              <a:ea typeface="Heebo ExtraBold"/>
              <a:cs typeface="Heebo ExtraBold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4EB30778-B432-4601-91A1-E7790EB0B58C}"/>
              </a:ext>
            </a:extLst>
          </p:cNvPr>
          <p:cNvSpPr txBox="1"/>
          <p:nvPr/>
        </p:nvSpPr>
        <p:spPr>
          <a:xfrm>
            <a:off x="1879600" y="7378700"/>
            <a:ext cx="46355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NVIDIA RTX PRO 6000 Blackwell</a:t>
            </a:r>
            <a:b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</a:b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Server Edition (</a:t>
            </a:r>
            <a: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VRAM</a:t>
            </a:r>
            <a:r>
              <a:rPr lang="ko-KR" alt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 </a:t>
            </a: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96GB)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100EE749-0BE9-44A6-B04E-5C24A987AC63}"/>
              </a:ext>
            </a:extLst>
          </p:cNvPr>
          <p:cNvSpPr txBox="1"/>
          <p:nvPr/>
        </p:nvSpPr>
        <p:spPr>
          <a:xfrm>
            <a:off x="7010400" y="6807200"/>
            <a:ext cx="32639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9479"/>
              </a:lnSpc>
            </a:pPr>
            <a:r>
              <a:rPr lang="en-US" sz="2799" b="0" i="0" u="none" strike="noStrike" dirty="0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Data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E2D956BE-68FC-41DC-B722-7B4F2D9E5610}"/>
              </a:ext>
            </a:extLst>
          </p:cNvPr>
          <p:cNvSpPr txBox="1"/>
          <p:nvPr/>
        </p:nvSpPr>
        <p:spPr>
          <a:xfrm>
            <a:off x="7010400" y="7378700"/>
            <a:ext cx="46355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Train : 6,714</a:t>
            </a:r>
          </a:p>
          <a:p>
            <a:pPr lvl="0" algn="l">
              <a:lnSpc>
                <a:spcPct val="107899"/>
              </a:lnSpc>
            </a:pPr>
            <a: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Test  : 6,714</a:t>
            </a:r>
          </a:p>
          <a:p>
            <a:pPr lvl="0" algn="l">
              <a:lnSpc>
                <a:spcPct val="107899"/>
              </a:lnSpc>
            </a:pPr>
            <a: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Task  : Multiple-choice VQA</a:t>
            </a:r>
            <a:endParaRPr lang="en-US" sz="2199" b="0" i="0" u="none" strike="noStrike" dirty="0">
              <a:solidFill>
                <a:srgbClr val="000000"/>
              </a:solidFill>
              <a:latin typeface="Heebo ExtraLight"/>
              <a:ea typeface="Heebo ExtraLight"/>
              <a:cs typeface="Heebo ExtraLight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0B1A96B0-44D1-4EDF-95C1-5D8163C41D8D}"/>
              </a:ext>
            </a:extLst>
          </p:cNvPr>
          <p:cNvSpPr txBox="1"/>
          <p:nvPr/>
        </p:nvSpPr>
        <p:spPr>
          <a:xfrm>
            <a:off x="12128500" y="6807200"/>
            <a:ext cx="32639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29479"/>
              </a:lnSpc>
            </a:pPr>
            <a:r>
              <a:rPr lang="en-US" sz="2799" b="0" i="0" u="none" strike="noStrike" dirty="0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Model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2406992E-76C5-409B-8C0D-F13657AF76AE}"/>
              </a:ext>
            </a:extLst>
          </p:cNvPr>
          <p:cNvSpPr txBox="1"/>
          <p:nvPr/>
        </p:nvSpPr>
        <p:spPr>
          <a:xfrm>
            <a:off x="12128500" y="7378700"/>
            <a:ext cx="46355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Q</a:t>
            </a:r>
            <a:r>
              <a:rPr 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wen3-VL-32B-Instruct</a:t>
            </a:r>
            <a:r>
              <a:rPr lang="ko-KR" alt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 </a:t>
            </a:r>
            <a:r>
              <a:rPr lang="en-US" altLang="ko-KR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+</a:t>
            </a:r>
            <a:r>
              <a:rPr lang="ko-KR" altLang="en-US" sz="2199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 </a:t>
            </a:r>
            <a:r>
              <a:rPr lang="en-US" altLang="ko-KR" sz="2199" dirty="0" err="1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LoRA</a:t>
            </a:r>
            <a:endParaRPr lang="en-US" altLang="ko-KR" sz="2199" dirty="0">
              <a:solidFill>
                <a:srgbClr val="000000"/>
              </a:solidFill>
              <a:latin typeface="Heebo ExtraLight"/>
              <a:ea typeface="Heebo ExtraLight"/>
              <a:cs typeface="Heebo ExtraLight"/>
            </a:endParaRPr>
          </a:p>
          <a:p>
            <a:pPr lvl="0" algn="l">
              <a:lnSpc>
                <a:spcPct val="107899"/>
              </a:lnSpc>
            </a:pP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2epoch, CUDA</a:t>
            </a:r>
          </a:p>
          <a:p>
            <a:pPr lvl="0" algn="l">
              <a:lnSpc>
                <a:spcPct val="107899"/>
              </a:lnSpc>
            </a:pPr>
            <a:r>
              <a:rPr lang="en-US" sz="2199" b="0" i="0" u="none" strike="noStrike" dirty="0">
                <a:solidFill>
                  <a:srgbClr val="000000"/>
                </a:solidFill>
                <a:latin typeface="Heebo ExtraLight"/>
                <a:ea typeface="Heebo ExtraLight"/>
                <a:cs typeface="Heebo ExtraLight"/>
              </a:rPr>
              <a:t>Random Option Permutation</a:t>
            </a:r>
          </a:p>
        </p:txBody>
      </p:sp>
      <p:pic>
        <p:nvPicPr>
          <p:cNvPr id="2050" name="Picture 2" descr="ThinkSystem NVIDIA RTX PRO 6000 Blackwell Server Edition PCIe Gen5 GPU">
            <a:extLst>
              <a:ext uri="{FF2B5EF4-FFF2-40B4-BE49-F238E27FC236}">
                <a16:creationId xmlns:a16="http://schemas.microsoft.com/office/drawing/2014/main" id="{54ADE775-5F14-4B9C-8C41-4FC8D7797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3327049"/>
            <a:ext cx="3363759" cy="322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64DAFE2-4022-40EC-8D99-93265CC905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3320" y="3604437"/>
            <a:ext cx="3392660" cy="2427250"/>
          </a:xfrm>
          <a:prstGeom prst="rect">
            <a:avLst/>
          </a:prstGeom>
        </p:spPr>
      </p:pic>
      <p:pic>
        <p:nvPicPr>
          <p:cNvPr id="2058" name="Picture 10" descr="Google colab-2] 구글 코랩 개발환경 설정">
            <a:extLst>
              <a:ext uri="{FF2B5EF4-FFF2-40B4-BE49-F238E27FC236}">
                <a16:creationId xmlns:a16="http://schemas.microsoft.com/office/drawing/2014/main" id="{0E3FEFB6-95A3-42C7-A848-6E99F0C86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14" y="3817149"/>
            <a:ext cx="4099737" cy="181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88B1496-9B3A-48D9-9BCA-CCDE9797AD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529197"/>
            <a:ext cx="4131369" cy="29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8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pic>
        <p:nvPicPr>
          <p:cNvPr id="30" name="Picture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2100" y="5600700"/>
            <a:ext cx="10756900" cy="63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BD5B13B-A6A4-4008-8134-E0DA498AD3DF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pic>
        <p:nvPicPr>
          <p:cNvPr id="32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6200" y="4394200"/>
            <a:ext cx="2476500" cy="2476500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9400" y="4394200"/>
            <a:ext cx="2476500" cy="2476500"/>
          </a:xfrm>
          <a:prstGeom prst="rect">
            <a:avLst/>
          </a:prstGeom>
        </p:spPr>
      </p:pic>
      <p:pic>
        <p:nvPicPr>
          <p:cNvPr id="34" name="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5300" y="4394200"/>
            <a:ext cx="2476500" cy="24765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C4E4E70-95CD-46E7-8DBA-782B0DC31143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고도화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과정</a:t>
            </a:r>
            <a:endParaRPr sz="57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E07F74-4E4B-4106-A89E-CB4A5E8FD0DB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C676550-4461-4E7B-9961-4C8340FC7446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2E20E7-670D-4F6E-B794-6FF17CF63209}"/>
              </a:ext>
            </a:extLst>
          </p:cNvPr>
          <p:cNvSpPr>
            <a:spLocks noGrp="1"/>
          </p:cNvSpPr>
          <p:nvPr/>
        </p:nvSpPr>
        <p:spPr>
          <a:xfrm>
            <a:off x="2946400" y="5003800"/>
            <a:ext cx="1816100" cy="1219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기본</a:t>
            </a:r>
            <a:endParaRPr sz="3225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구축</a:t>
            </a:r>
            <a:endParaRPr sz="3225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E475E84-325E-491F-8106-8A443BE6B4FE}"/>
              </a:ext>
            </a:extLst>
          </p:cNvPr>
          <p:cNvSpPr>
            <a:spLocks noGrp="1"/>
          </p:cNvSpPr>
          <p:nvPr/>
        </p:nvSpPr>
        <p:spPr>
          <a:xfrm>
            <a:off x="8242300" y="5003800"/>
            <a:ext cx="1816100" cy="1219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3225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개선</a:t>
            </a:r>
            <a:endParaRPr sz="3225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E38654A-E864-4D95-8418-8F040EF58A21}"/>
              </a:ext>
            </a:extLst>
          </p:cNvPr>
          <p:cNvSpPr>
            <a:spLocks noGrp="1"/>
          </p:cNvSpPr>
          <p:nvPr/>
        </p:nvSpPr>
        <p:spPr>
          <a:xfrm>
            <a:off x="13525500" y="5003800"/>
            <a:ext cx="1816100" cy="1219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  <a:endParaRPr sz="3225" b="1" i="0" spc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lvl="0" algn="ctr">
              <a:lnSpc>
                <a:spcPct val="120000"/>
              </a:lnSpc>
              <a:buNone/>
            </a:pPr>
            <a:r>
              <a:rPr sz="3225" b="1" i="0" spc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확장</a:t>
            </a:r>
            <a:endParaRPr sz="3225" b="1" i="0" spc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65225D8-7055-48CE-BB9A-8620B2BC1D41}"/>
              </a:ext>
            </a:extLst>
          </p:cNvPr>
          <p:cNvSpPr>
            <a:spLocks noGrp="1"/>
          </p:cNvSpPr>
          <p:nvPr/>
        </p:nvSpPr>
        <p:spPr>
          <a:xfrm>
            <a:off x="1714500" y="7137400"/>
            <a:ext cx="4279900" cy="1206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20000"/>
              </a:lnSpc>
              <a:buNone/>
            </a:pP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Qwen2.5-VL-3B</a:t>
            </a:r>
          </a:p>
          <a:p>
            <a:pPr lvl="0" algn="ctr">
              <a:lnSpc>
                <a:spcPct val="120000"/>
              </a:lnSpc>
              <a:buNone/>
            </a:pPr>
            <a:r>
              <a:rPr lang="ko-KR" altLang="en-US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제출 </a:t>
            </a:r>
            <a:r>
              <a:rPr lang="en-US" altLang="ko-KR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88.471%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7648E22-C316-405D-9683-FB984FEB9D12}"/>
              </a:ext>
            </a:extLst>
          </p:cNvPr>
          <p:cNvSpPr>
            <a:spLocks noGrp="1"/>
          </p:cNvSpPr>
          <p:nvPr/>
        </p:nvSpPr>
        <p:spPr>
          <a:xfrm>
            <a:off x="6997700" y="7137400"/>
            <a:ext cx="4279900" cy="1206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프로토타입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</a:t>
            </a:r>
          </a:p>
          <a:p>
            <a:pPr lvl="0" algn="ctr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제출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255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96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067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519B7D7-9709-4D65-8638-47B2FD4B521E}"/>
              </a:ext>
            </a:extLst>
          </p:cNvPr>
          <p:cNvSpPr>
            <a:spLocks noGrp="1"/>
          </p:cNvSpPr>
          <p:nvPr/>
        </p:nvSpPr>
        <p:spPr>
          <a:xfrm>
            <a:off x="12293600" y="7137400"/>
            <a:ext cx="4279900" cy="1206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20000"/>
              </a:lnSpc>
              <a:buNone/>
            </a:pP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8B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후 32B</a:t>
            </a:r>
          </a:p>
          <a:p>
            <a:pPr lvl="0" algn="ctr">
              <a:lnSpc>
                <a:spcPct val="120000"/>
              </a:lnSpc>
              <a:buNone/>
            </a:pP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제출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9</a:t>
            </a:r>
            <a:r>
              <a:rPr lang="en-US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080</a:t>
            </a:r>
            <a:r>
              <a:rPr sz="255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EFC6D79A-1D5F-470C-864A-25E921938275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9285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20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21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A998182-9AAA-44F1-A878-3F91391F87B7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Baseline </a:t>
            </a:r>
            <a:r>
              <a:rPr lang="ko-KR" alt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코드 분석</a:t>
            </a:r>
            <a:endParaRPr sz="57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A98873-340C-43C7-A6A7-53E7C8126576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800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A5E50F-9E59-4571-B67F-FD5214E4F259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CE955DD-C430-472A-A800-67392414E9DF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3B73AC-0714-4C59-9C3F-C1F9419B8BDC}"/>
              </a:ext>
            </a:extLst>
          </p:cNvPr>
          <p:cNvSpPr>
            <a:spLocks noGrp="1"/>
          </p:cNvSpPr>
          <p:nvPr/>
        </p:nvSpPr>
        <p:spPr>
          <a:xfrm>
            <a:off x="1816099" y="3517900"/>
            <a:ext cx="7013575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Baseline </a:t>
            </a:r>
            <a:r>
              <a:rPr lang="ko-KR" altLang="en-US" sz="25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코드</a:t>
            </a:r>
            <a:r>
              <a:rPr lang="en-US" altLang="ko-KR" sz="25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5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제한된</a:t>
            </a:r>
            <a:r>
              <a:rPr sz="25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GPU에서</a:t>
            </a:r>
            <a:r>
              <a:rPr sz="25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미세조정</a:t>
            </a:r>
            <a:endParaRPr sz="25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11C37FB-94E9-4D2F-BE3B-31DA76938426}"/>
              </a:ext>
            </a:extLst>
          </p:cNvPr>
          <p:cNvSpPr>
            <a:spLocks noGrp="1"/>
          </p:cNvSpPr>
          <p:nvPr/>
        </p:nvSpPr>
        <p:spPr>
          <a:xfrm>
            <a:off x="1816100" y="4273991"/>
            <a:ext cx="6654800" cy="2515706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50000"/>
              </a:lnSpc>
              <a:buNone/>
            </a:pP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Qwen2.5-VL-3B + 4비트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양자화</a:t>
            </a:r>
            <a:endParaRPr sz="20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LoRA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rank 8, 1에폭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5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200개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표본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중 180개만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20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이미지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해상도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84²</a:t>
            </a:r>
          </a:p>
          <a:p>
            <a:pPr lvl="0" algn="l">
              <a:lnSpc>
                <a:spcPct val="150000"/>
              </a:lnSpc>
              <a:buNone/>
            </a:pPr>
            <a:r>
              <a:rPr lang="en-US" altLang="ko-KR"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생성한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문자열에서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20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추출</a:t>
            </a:r>
            <a:endParaRPr sz="20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36AF026-25D3-4127-A593-FDF28D6F5E38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9A01CC-4F33-4902-AD91-E3D9CC68F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7325" y="2828925"/>
            <a:ext cx="7013575" cy="29157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4F22FF8-1DE4-403A-B64D-856162E59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549" y="6029397"/>
            <a:ext cx="7083413" cy="215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9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20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21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A998182-9AAA-44F1-A878-3F91391F87B7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lang="ko-KR" alt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학습 개선 전략</a:t>
            </a:r>
            <a:endParaRPr sz="5700" b="1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A98873-340C-43C7-A6A7-53E7C8126576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A5E50F-9E59-4571-B67F-FD5214E4F259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CE955DD-C430-472A-A800-67392414E9DF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36AF026-25D3-4127-A593-FDF28D6F5E38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35" name="Picture 5">
            <a:extLst>
              <a:ext uri="{FF2B5EF4-FFF2-40B4-BE49-F238E27FC236}">
                <a16:creationId xmlns:a16="http://schemas.microsoft.com/office/drawing/2014/main" id="{88430718-6DFE-45E6-9293-872F8566B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2300" y="3340100"/>
            <a:ext cx="4597400" cy="736600"/>
          </a:xfrm>
          <a:prstGeom prst="rect">
            <a:avLst/>
          </a:prstGeom>
        </p:spPr>
      </p:pic>
      <p:pic>
        <p:nvPicPr>
          <p:cNvPr id="36" name="Picture 6">
            <a:extLst>
              <a:ext uri="{FF2B5EF4-FFF2-40B4-BE49-F238E27FC236}">
                <a16:creationId xmlns:a16="http://schemas.microsoft.com/office/drawing/2014/main" id="{EED823FD-38F5-4D7A-B504-3F54A24930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3340100"/>
            <a:ext cx="4622800" cy="736600"/>
          </a:xfrm>
          <a:prstGeom prst="rect">
            <a:avLst/>
          </a:prstGeom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F8B9699D-5724-4AAA-A3B2-FA147313D4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836400" y="3340100"/>
            <a:ext cx="4622800" cy="736600"/>
          </a:xfrm>
          <a:prstGeom prst="rect">
            <a:avLst/>
          </a:prstGeom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CEB81DEA-AE99-471B-B132-3865778802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43400" y="6235700"/>
            <a:ext cx="4622800" cy="736600"/>
          </a:xfrm>
          <a:prstGeom prst="rect">
            <a:avLst/>
          </a:prstGeom>
        </p:spPr>
      </p:pic>
      <p:pic>
        <p:nvPicPr>
          <p:cNvPr id="39" name="Picture 9">
            <a:extLst>
              <a:ext uri="{FF2B5EF4-FFF2-40B4-BE49-F238E27FC236}">
                <a16:creationId xmlns:a16="http://schemas.microsoft.com/office/drawing/2014/main" id="{496E4031-2C0C-4EA1-92F3-2749F89971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21800" y="6235700"/>
            <a:ext cx="4622800" cy="736600"/>
          </a:xfrm>
          <a:prstGeom prst="rect">
            <a:avLst/>
          </a:prstGeom>
        </p:spPr>
      </p:pic>
      <p:sp>
        <p:nvSpPr>
          <p:cNvPr id="40" name="TextBox 15">
            <a:extLst>
              <a:ext uri="{FF2B5EF4-FFF2-40B4-BE49-F238E27FC236}">
                <a16:creationId xmlns:a16="http://schemas.microsoft.com/office/drawing/2014/main" id="{799C40C8-48C9-4DE6-83C9-C7ACEA526316}"/>
              </a:ext>
            </a:extLst>
          </p:cNvPr>
          <p:cNvSpPr txBox="1"/>
          <p:nvPr/>
        </p:nvSpPr>
        <p:spPr>
          <a:xfrm>
            <a:off x="2044700" y="3403600"/>
            <a:ext cx="4292600" cy="609600"/>
          </a:xfrm>
          <a:prstGeom prst="rect">
            <a:avLst/>
          </a:prstGeom>
        </p:spPr>
        <p:txBody>
          <a:bodyPr lIns="0" tIns="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799" b="1" i="0" u="none" strike="noStrike" dirty="0">
                <a:solidFill>
                  <a:srgbClr val="000000"/>
                </a:solidFill>
                <a:latin typeface="+mn-ea"/>
                <a:cs typeface="Heebo ExtraBold"/>
              </a:rPr>
              <a:t>정답 중심 학습</a:t>
            </a:r>
            <a:endParaRPr lang="en-US" sz="2799" b="1" i="0" u="none" strike="noStrike" dirty="0">
              <a:solidFill>
                <a:srgbClr val="000000"/>
              </a:solidFill>
              <a:latin typeface="+mn-ea"/>
              <a:cs typeface="Heebo ExtraBold"/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C107747B-DC4D-475E-9102-07FF1B35AD70}"/>
              </a:ext>
            </a:extLst>
          </p:cNvPr>
          <p:cNvSpPr txBox="1"/>
          <p:nvPr/>
        </p:nvSpPr>
        <p:spPr>
          <a:xfrm>
            <a:off x="7023100" y="3403600"/>
            <a:ext cx="4292600" cy="609600"/>
          </a:xfrm>
          <a:prstGeom prst="rect">
            <a:avLst/>
          </a:prstGeom>
        </p:spPr>
        <p:txBody>
          <a:bodyPr lIns="0" tIns="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799" b="1" i="0" u="none" strike="noStrike" dirty="0">
                <a:solidFill>
                  <a:srgbClr val="000000"/>
                </a:solidFill>
                <a:latin typeface="+mn-ea"/>
                <a:cs typeface="Heebo ExtraBold"/>
              </a:rPr>
              <a:t>이미지 해상도 상향</a:t>
            </a:r>
            <a:endParaRPr lang="en-US" altLang="ko-KR" sz="2799" b="1" i="0" u="none" strike="noStrike" dirty="0">
              <a:solidFill>
                <a:srgbClr val="000000"/>
              </a:solidFill>
              <a:latin typeface="+mn-ea"/>
              <a:cs typeface="Heebo ExtraBold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07334F1D-71C3-4B3A-9E6B-7EA8178B975A}"/>
              </a:ext>
            </a:extLst>
          </p:cNvPr>
          <p:cNvSpPr txBox="1"/>
          <p:nvPr/>
        </p:nvSpPr>
        <p:spPr>
          <a:xfrm>
            <a:off x="12001500" y="3403600"/>
            <a:ext cx="4292600" cy="609600"/>
          </a:xfrm>
          <a:prstGeom prst="rect">
            <a:avLst/>
          </a:prstGeom>
        </p:spPr>
        <p:txBody>
          <a:bodyPr lIns="0" tIns="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799" b="1" i="0" u="none" strike="noStrike" dirty="0">
                <a:solidFill>
                  <a:srgbClr val="FFFFFF"/>
                </a:solidFill>
                <a:latin typeface="+mn-ea"/>
                <a:cs typeface="Heebo ExtraBold"/>
              </a:rPr>
              <a:t>학습 데이터 확대</a:t>
            </a:r>
            <a:endParaRPr lang="en-US" sz="2799" b="1" i="0" u="none" strike="noStrike" dirty="0">
              <a:solidFill>
                <a:srgbClr val="FFFFFF"/>
              </a:solidFill>
              <a:latin typeface="+mn-ea"/>
              <a:cs typeface="Heebo ExtraBold"/>
            </a:endParaRP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021883E2-8DF5-4771-BC78-9341B24F9951}"/>
              </a:ext>
            </a:extLst>
          </p:cNvPr>
          <p:cNvSpPr txBox="1"/>
          <p:nvPr/>
        </p:nvSpPr>
        <p:spPr>
          <a:xfrm>
            <a:off x="2057400" y="4279900"/>
            <a:ext cx="42799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2200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입력 전체에 계산하던 손실을</a:t>
            </a:r>
            <a:endParaRPr lang="en-US" altLang="ko-KR" sz="2200" b="0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400" b="1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assistant </a:t>
            </a:r>
            <a:r>
              <a:rPr lang="ko-KR" altLang="en-US" sz="2400" b="1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답변 부분에만 적용</a:t>
            </a:r>
            <a:endParaRPr lang="en-US" altLang="ko-KR" sz="2400" b="1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4F8F2B8A-BB76-40D2-A917-4F9F3F151DE2}"/>
              </a:ext>
            </a:extLst>
          </p:cNvPr>
          <p:cNvSpPr txBox="1"/>
          <p:nvPr/>
        </p:nvSpPr>
        <p:spPr>
          <a:xfrm>
            <a:off x="7023100" y="4241800"/>
            <a:ext cx="42799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2200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이미지 픽셀 </a:t>
            </a:r>
            <a:endParaRPr lang="en-US" altLang="ko-KR" sz="2200" b="0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  <a:p>
            <a:pPr algn="ctr">
              <a:lnSpc>
                <a:spcPct val="1078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+mn-ea"/>
                <a:cs typeface="Heebo ExtraLight"/>
              </a:rPr>
              <a:t>384²</a:t>
            </a:r>
            <a:r>
              <a:rPr lang="ko-KR" altLang="en-US" sz="2200" dirty="0">
                <a:solidFill>
                  <a:srgbClr val="000000"/>
                </a:solidFill>
                <a:latin typeface="+mn-ea"/>
                <a:cs typeface="Heebo ExtraLight"/>
              </a:rPr>
              <a:t>⇒</a:t>
            </a:r>
            <a:r>
              <a:rPr lang="ko-KR" altLang="en-US" sz="2400" dirty="0">
                <a:solidFill>
                  <a:srgbClr val="000000"/>
                </a:solidFill>
                <a:latin typeface="+mn-ea"/>
                <a:cs typeface="Heebo ExtraLight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Heebo ExtraLight"/>
              </a:rPr>
              <a:t>512²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Heebo ExtraLight"/>
              </a:rPr>
              <a:t>로 향상</a:t>
            </a:r>
            <a:endParaRPr lang="en-US" altLang="ko-KR" sz="2400" b="1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0AF6A662-24AD-486A-AD7C-8C752D509E53}"/>
              </a:ext>
            </a:extLst>
          </p:cNvPr>
          <p:cNvSpPr txBox="1"/>
          <p:nvPr/>
        </p:nvSpPr>
        <p:spPr>
          <a:xfrm>
            <a:off x="12001500" y="4241800"/>
            <a:ext cx="42799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데이터 </a:t>
            </a:r>
            <a:r>
              <a:rPr lang="ko-KR" altLang="en-US" sz="2199" b="0" i="0" u="none" strike="noStrike" dirty="0" err="1">
                <a:solidFill>
                  <a:srgbClr val="000000"/>
                </a:solidFill>
                <a:latin typeface="+mn-ea"/>
                <a:cs typeface="Heebo ExtraLight"/>
              </a:rPr>
              <a:t>추출량</a:t>
            </a:r>
            <a:endParaRPr lang="en-US" altLang="ko-KR" sz="2199" b="0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  <a:p>
            <a:pPr lvl="0" algn="ctr">
              <a:lnSpc>
                <a:spcPct val="107899"/>
              </a:lnSpc>
            </a:pPr>
            <a:r>
              <a:rPr lang="en-US" sz="2199" dirty="0">
                <a:solidFill>
                  <a:srgbClr val="000000"/>
                </a:solidFill>
                <a:latin typeface="+mn-ea"/>
                <a:cs typeface="Heebo ExtraLight"/>
              </a:rPr>
              <a:t>200</a:t>
            </a:r>
            <a:r>
              <a:rPr lang="ko-KR" altLang="en-US" sz="2199" dirty="0">
                <a:solidFill>
                  <a:srgbClr val="000000"/>
                </a:solidFill>
                <a:latin typeface="+mn-ea"/>
                <a:cs typeface="Heebo ExtraLight"/>
              </a:rPr>
              <a:t>개</a:t>
            </a:r>
            <a:r>
              <a:rPr lang="en-US" sz="2199" dirty="0">
                <a:solidFill>
                  <a:srgbClr val="000000"/>
                </a:solidFill>
                <a:latin typeface="+mn-ea"/>
                <a:cs typeface="Heebo ExtraLight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latin typeface="+mn-ea"/>
                <a:cs typeface="Heebo ExtraLight"/>
              </a:rPr>
              <a:t>⇒ </a:t>
            </a:r>
            <a:r>
              <a:rPr lang="ko-KR" altLang="en-US" sz="2400" b="1" dirty="0">
                <a:solidFill>
                  <a:srgbClr val="000000"/>
                </a:solidFill>
                <a:latin typeface="+mn-ea"/>
                <a:cs typeface="Heebo ExtraLight"/>
              </a:rPr>
              <a:t>전체 데이터의 약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Heebo ExtraLight"/>
              </a:rPr>
              <a:t>90%</a:t>
            </a:r>
            <a:endParaRPr lang="en-US" sz="2400" b="1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16861F94-076A-4F7E-9A2C-157C8C398666}"/>
              </a:ext>
            </a:extLst>
          </p:cNvPr>
          <p:cNvSpPr txBox="1"/>
          <p:nvPr/>
        </p:nvSpPr>
        <p:spPr>
          <a:xfrm>
            <a:off x="4508500" y="6299200"/>
            <a:ext cx="4292600" cy="609600"/>
          </a:xfrm>
          <a:prstGeom prst="rect">
            <a:avLst/>
          </a:prstGeom>
        </p:spPr>
        <p:txBody>
          <a:bodyPr lIns="0" tIns="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799" b="1" i="0" u="none" strike="noStrike" dirty="0" err="1">
                <a:solidFill>
                  <a:srgbClr val="000000"/>
                </a:solidFill>
                <a:latin typeface="+mn-ea"/>
                <a:cs typeface="Heebo ExtraBold"/>
              </a:rPr>
              <a:t>LoRA</a:t>
            </a:r>
            <a:r>
              <a:rPr lang="en-US" sz="2799" b="1" i="0" u="none" strike="noStrike" dirty="0">
                <a:solidFill>
                  <a:srgbClr val="000000"/>
                </a:solidFill>
                <a:latin typeface="+mn-ea"/>
                <a:cs typeface="Heebo ExtraBold"/>
              </a:rPr>
              <a:t> </a:t>
            </a:r>
            <a:r>
              <a:rPr lang="ko-KR" altLang="en-US" sz="2799" b="1" i="0" u="none" strike="noStrike" dirty="0">
                <a:solidFill>
                  <a:srgbClr val="000000"/>
                </a:solidFill>
                <a:latin typeface="+mn-ea"/>
                <a:cs typeface="Heebo ExtraBold"/>
              </a:rPr>
              <a:t>학습 용량 확대</a:t>
            </a:r>
            <a:endParaRPr lang="en-US" sz="2799" b="1" i="0" u="none" strike="noStrike" dirty="0">
              <a:solidFill>
                <a:srgbClr val="000000"/>
              </a:solidFill>
              <a:latin typeface="+mn-ea"/>
              <a:cs typeface="Heebo ExtraBold"/>
            </a:endParaRP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947ABDA-8975-44AC-A610-AF5C80749823}"/>
              </a:ext>
            </a:extLst>
          </p:cNvPr>
          <p:cNvSpPr txBox="1"/>
          <p:nvPr/>
        </p:nvSpPr>
        <p:spPr>
          <a:xfrm>
            <a:off x="9486900" y="6299200"/>
            <a:ext cx="4292600" cy="609600"/>
          </a:xfrm>
          <a:prstGeom prst="rect">
            <a:avLst/>
          </a:prstGeom>
        </p:spPr>
        <p:txBody>
          <a:bodyPr lIns="0" tIns="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799" b="1" i="0" u="none" strike="noStrike" dirty="0">
                <a:solidFill>
                  <a:srgbClr val="000000"/>
                </a:solidFill>
                <a:latin typeface="+mn-ea"/>
                <a:cs typeface="Heebo ExtraBold"/>
              </a:rPr>
              <a:t>검증도 기반 </a:t>
            </a:r>
            <a:r>
              <a:rPr lang="ko-KR" altLang="en-US" sz="2799" b="1" dirty="0">
                <a:solidFill>
                  <a:srgbClr val="000000"/>
                </a:solidFill>
                <a:latin typeface="+mn-ea"/>
                <a:cs typeface="Heebo ExtraBold"/>
              </a:rPr>
              <a:t>모델 선택</a:t>
            </a:r>
            <a:endParaRPr lang="en-US" sz="2799" b="1" i="0" u="none" strike="noStrike" dirty="0">
              <a:solidFill>
                <a:srgbClr val="000000"/>
              </a:solidFill>
              <a:latin typeface="+mn-ea"/>
              <a:cs typeface="Heebo ExtraBold"/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5390272C-439F-4F24-8553-3A2FC0C7EFF9}"/>
              </a:ext>
            </a:extLst>
          </p:cNvPr>
          <p:cNvSpPr txBox="1"/>
          <p:nvPr/>
        </p:nvSpPr>
        <p:spPr>
          <a:xfrm>
            <a:off x="4508500" y="7137400"/>
            <a:ext cx="42799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199" b="0" i="0" u="none" strike="noStrike" dirty="0" err="1">
                <a:solidFill>
                  <a:srgbClr val="000000"/>
                </a:solidFill>
                <a:latin typeface="+mn-ea"/>
                <a:cs typeface="Heebo ExtraLight"/>
              </a:rPr>
              <a:t>LoRA</a:t>
            </a:r>
            <a:r>
              <a:rPr 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 rank 8 </a:t>
            </a: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→</a:t>
            </a:r>
            <a:r>
              <a:rPr lang="en-US" altLang="ko-KR" sz="2400" b="1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16</a:t>
            </a:r>
          </a:p>
          <a:p>
            <a:pPr lvl="0" algn="ctr">
              <a:lnSpc>
                <a:spcPct val="107899"/>
              </a:lnSpc>
            </a:pPr>
            <a:r>
              <a:rPr 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alpha 16</a:t>
            </a: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 → </a:t>
            </a:r>
            <a:r>
              <a:rPr lang="en-US" altLang="ko-KR" sz="2400" b="1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32</a:t>
            </a:r>
            <a:endParaRPr lang="en-US" sz="2400" b="1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D85003FC-E9D6-45F3-BD6E-00DAFFDF98D5}"/>
              </a:ext>
            </a:extLst>
          </p:cNvPr>
          <p:cNvSpPr txBox="1"/>
          <p:nvPr/>
        </p:nvSpPr>
        <p:spPr>
          <a:xfrm>
            <a:off x="9486900" y="7137400"/>
            <a:ext cx="4279900" cy="1562100"/>
          </a:xfrm>
          <a:prstGeom prst="rect">
            <a:avLst/>
          </a:prstGeom>
        </p:spPr>
        <p:txBody>
          <a:bodyPr lIns="0" tIns="139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학습 </a:t>
            </a:r>
            <a:r>
              <a:rPr lang="ko-KR" altLang="en-US" sz="2199" b="0" i="0" u="none" strike="noStrike" dirty="0" err="1">
                <a:solidFill>
                  <a:srgbClr val="000000"/>
                </a:solidFill>
                <a:latin typeface="+mn-ea"/>
                <a:cs typeface="Heebo ExtraLight"/>
              </a:rPr>
              <a:t>회차별</a:t>
            </a: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 검증 </a:t>
            </a:r>
            <a:r>
              <a:rPr lang="ko-KR" altLang="en-US" sz="2199" b="0" i="0" u="none" strike="noStrike" dirty="0" err="1">
                <a:solidFill>
                  <a:srgbClr val="000000"/>
                </a:solidFill>
                <a:latin typeface="+mn-ea"/>
                <a:cs typeface="Heebo ExtraLight"/>
              </a:rPr>
              <a:t>정답률</a:t>
            </a:r>
            <a:r>
              <a:rPr lang="ko-KR" altLang="en-US" sz="2199" b="0" i="0" u="none" strike="noStrike" dirty="0">
                <a:solidFill>
                  <a:srgbClr val="000000"/>
                </a:solidFill>
                <a:latin typeface="+mn-ea"/>
                <a:cs typeface="Heebo ExtraLight"/>
              </a:rPr>
              <a:t> 확인</a:t>
            </a:r>
            <a:endParaRPr lang="en-US" altLang="ko-KR" sz="2199" b="0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  <a:p>
            <a:pPr lvl="0" algn="ctr">
              <a:lnSpc>
                <a:spcPct val="107899"/>
              </a:lnSpc>
            </a:pPr>
            <a:r>
              <a:rPr lang="ko-KR" altLang="en-US" sz="2199" dirty="0">
                <a:solidFill>
                  <a:srgbClr val="000000"/>
                </a:solidFill>
                <a:latin typeface="+mn-ea"/>
                <a:cs typeface="Heebo ExtraLight"/>
              </a:rPr>
              <a:t>가장 성능이 좋았던 모델 선택</a:t>
            </a:r>
            <a:endParaRPr lang="en-US" sz="2199" b="0" i="0" u="none" strike="noStrike" dirty="0">
              <a:solidFill>
                <a:srgbClr val="000000"/>
              </a:solidFill>
              <a:latin typeface="+mn-ea"/>
              <a:cs typeface="Heebo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392361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94F6E31-26F5-421F-9F2E-A7DABBB74138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lang="en-US" altLang="ko-KR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Qwen3-VL-8B</a:t>
            </a:r>
            <a:r>
              <a:rPr lang="ko-KR" alt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로 고도화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E8423F-18B5-4212-8533-D16E356343CF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21EA9E4-67D7-4793-8A9B-5EF5C8FE8020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633A89-852F-44D5-8928-D86F55E5FF11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graphicFrame>
        <p:nvGraphicFramePr>
          <p:cNvPr id="25" name="표 24"/>
          <p:cNvGraphicFramePr/>
          <p:nvPr>
            <p:extLst>
              <p:ext uri="{D42A27DB-BD31-4B8C-83A1-F6EECF244321}">
                <p14:modId xmlns:p14="http://schemas.microsoft.com/office/powerpoint/2010/main" val="2243753709"/>
              </p:ext>
            </p:extLst>
          </p:nvPr>
        </p:nvGraphicFramePr>
        <p:xfrm>
          <a:off x="1838325" y="3381374"/>
          <a:ext cx="14620875" cy="4257675"/>
        </p:xfrm>
        <a:graphic>
          <a:graphicData uri="http://schemas.openxmlformats.org/drawingml/2006/table">
            <a:tbl>
              <a:tblPr/>
              <a:tblGrid>
                <a:gridCol w="50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153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실험</a:t>
                      </a: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수</a:t>
                      </a: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정확도</a:t>
                      </a: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1에폭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  <a:endParaRPr sz="240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635 / 670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94.776%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결과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2에폭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  <a:endParaRPr sz="240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638 / 670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95.224%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3개 증가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선택지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순열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TTA 4회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 / 670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95.522%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2개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  <a:endParaRPr sz="240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고해상도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재추론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</a:t>
                      </a:r>
                      <a:endParaRPr sz="240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 / 670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95.522%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이득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없어</a:t>
                      </a:r>
                      <a:r>
                        <a:rPr sz="240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미채택</a:t>
                      </a:r>
                      <a:endParaRPr sz="240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고해상도 임계값 0.6 / 0.8 / 0.9 / 0.95를 시험">
            <a:extLst>
              <a:ext uri="{FF2B5EF4-FFF2-40B4-BE49-F238E27FC236}">
                <a16:creationId xmlns:a16="http://schemas.microsoft.com/office/drawing/2014/main" id="{110F8B8E-80A3-4DE5-BBCD-B115A9CE3260}"/>
              </a:ext>
            </a:extLst>
          </p:cNvPr>
          <p:cNvSpPr>
            <a:spLocks noGrp="1"/>
          </p:cNvSpPr>
          <p:nvPr/>
        </p:nvSpPr>
        <p:spPr>
          <a:xfrm>
            <a:off x="1838325" y="8191500"/>
            <a:ext cx="146208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25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⇒ 내부 검증 정확도 </a:t>
            </a:r>
            <a:r>
              <a:rPr lang="en-US" altLang="ko-KR" sz="225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95.52% </a:t>
            </a:r>
            <a:r>
              <a:rPr lang="ko-KR" altLang="en-US" sz="225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2250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D40A02A6-288A-4996-B0DD-1788CE285B9B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293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20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21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pic>
        <p:nvPicPr>
          <p:cNvPr id="22" name="Picture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0000" y="6210300"/>
            <a:ext cx="13169900" cy="63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4BFCB31A-1D52-4D52-BD46-5BB9FEEF440F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sz="57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최종 Qwen3-VL-32B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BA07DA-D22F-4522-8D37-E3B8BA1E1678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3A8B54-29E8-4603-B1DA-C217F7ACFED0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17F5272-03E3-4FCF-8CAE-9C9D8F4F8F53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F1240E-7A7B-4044-8041-8F781EA93DAB}"/>
              </a:ext>
            </a:extLst>
          </p:cNvPr>
          <p:cNvSpPr>
            <a:spLocks noGrp="1"/>
          </p:cNvSpPr>
          <p:nvPr/>
        </p:nvSpPr>
        <p:spPr>
          <a:xfrm>
            <a:off x="2209800" y="4686300"/>
            <a:ext cx="3035300" cy="673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20000"/>
              </a:lnSpc>
              <a:buNone/>
            </a:pPr>
            <a:r>
              <a:rPr sz="315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32B 모델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BB0EF8-3D1A-4BCA-A4EC-5988312F484A}"/>
              </a:ext>
            </a:extLst>
          </p:cNvPr>
          <p:cNvSpPr>
            <a:spLocks noGrp="1"/>
          </p:cNvSpPr>
          <p:nvPr/>
        </p:nvSpPr>
        <p:spPr>
          <a:xfrm>
            <a:off x="5880100" y="4254500"/>
            <a:ext cx="9842500" cy="1562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Qwen3-VL-32B-Instruct, BF16</a:t>
            </a:r>
          </a:p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4지선다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분류와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셔플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유지</a:t>
            </a:r>
            <a:endParaRPr sz="23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LoRA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rank 32,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유효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배치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16, label smoothing 0.0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3A460A9-5C77-43FA-AE01-3D1D806A5F1E}"/>
              </a:ext>
            </a:extLst>
          </p:cNvPr>
          <p:cNvSpPr>
            <a:spLocks noGrp="1"/>
          </p:cNvSpPr>
          <p:nvPr/>
        </p:nvSpPr>
        <p:spPr>
          <a:xfrm>
            <a:off x="2476500" y="7150100"/>
            <a:ext cx="2476500" cy="673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20000"/>
              </a:lnSpc>
              <a:buNone/>
            </a:pPr>
            <a:r>
              <a:rPr sz="315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전체 학습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68C4AE-4067-470F-876B-B012A7614249}"/>
              </a:ext>
            </a:extLst>
          </p:cNvPr>
          <p:cNvSpPr>
            <a:spLocks noGrp="1"/>
          </p:cNvSpPr>
          <p:nvPr/>
        </p:nvSpPr>
        <p:spPr>
          <a:xfrm>
            <a:off x="5880100" y="6718300"/>
            <a:ext cx="9842500" cy="1562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full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모드로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6,714문항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전체를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2에폭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23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추론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시 4가지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순열을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결합</a:t>
            </a:r>
            <a:endParaRPr sz="2300" b="0" i="0" spc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en-US"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일반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추론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1,600토큰,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조건부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00" b="0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고해상도</a:t>
            </a:r>
            <a:r>
              <a:rPr sz="2300" b="0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3,200토큰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01711907-5049-4BDC-9AA9-A5B64B496BD2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4673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20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21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94F6E31-26F5-421F-9F2E-A7DABBB74138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5700" b="1" i="0" spc="0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정확도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 9</a:t>
            </a:r>
            <a:r>
              <a:rPr 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7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lang="en-US"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080</a:t>
            </a:r>
            <a:r>
              <a:rPr sz="5700" b="1" i="0" spc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E8423F-18B5-4212-8533-D16E356343CF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21EA9E4-67D7-4793-8A9B-5EF5C8FE8020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633A89-852F-44D5-8928-D86F55E5FF11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graphicFrame>
        <p:nvGraphicFramePr>
          <p:cNvPr id="27" name="Chart"/>
          <p:cNvGraphicFramePr/>
          <p:nvPr>
            <p:extLst>
              <p:ext uri="{D42A27DB-BD31-4B8C-83A1-F6EECF244321}">
                <p14:modId xmlns:p14="http://schemas.microsoft.com/office/powerpoint/2010/main" val="710250797"/>
              </p:ext>
            </p:extLst>
          </p:nvPr>
        </p:nvGraphicFramePr>
        <p:xfrm>
          <a:off x="1838325" y="3429000"/>
          <a:ext cx="914400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+8.460">
            <a:extLst>
              <a:ext uri="{FF2B5EF4-FFF2-40B4-BE49-F238E27FC236}">
                <a16:creationId xmlns:a16="http://schemas.microsoft.com/office/drawing/2014/main" id="{B51C1F09-5E04-416A-A3A7-0EA62F83F7AB}"/>
              </a:ext>
            </a:extLst>
          </p:cNvPr>
          <p:cNvSpPr>
            <a:spLocks noGrp="1"/>
          </p:cNvSpPr>
          <p:nvPr/>
        </p:nvSpPr>
        <p:spPr>
          <a:xfrm>
            <a:off x="11620500" y="464908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800" b="1">
                <a:solidFill>
                  <a:srgbClr val="31A89D"/>
                </a:solidFill>
                <a:latin typeface="Lexend Bold"/>
                <a:ea typeface="Lexend Bold"/>
                <a:cs typeface="Lexend Bold"/>
              </a:defRPr>
            </a:pPr>
            <a:r>
              <a:rPr sz="7800" b="1" dirty="0">
                <a:solidFill>
                  <a:srgbClr val="31A89D"/>
                </a:solidFill>
                <a:latin typeface="Lexend Bold"/>
                <a:ea typeface="Lexend Bold"/>
                <a:cs typeface="Lexend Bold"/>
              </a:rPr>
              <a:t>+8.</a:t>
            </a:r>
            <a:r>
              <a:rPr lang="en-US" sz="7800" b="1" dirty="0">
                <a:solidFill>
                  <a:srgbClr val="31A89D"/>
                </a:solidFill>
                <a:latin typeface="Lexend Bold"/>
                <a:ea typeface="Lexend Bold"/>
                <a:cs typeface="Lexend Bold"/>
              </a:rPr>
              <a:t>609</a:t>
            </a:r>
            <a:endParaRPr sz="7800" b="1" dirty="0">
              <a:solidFill>
                <a:srgbClr val="31A89D"/>
              </a:solidFill>
              <a:latin typeface="Lexend Bold"/>
              <a:ea typeface="Lexend Bold"/>
              <a:cs typeface="Lexend Bold"/>
            </a:endParaRPr>
          </a:p>
        </p:txBody>
      </p:sp>
      <p:sp>
        <p:nvSpPr>
          <p:cNvPr id="17" name="%p 상승">
            <a:extLst>
              <a:ext uri="{FF2B5EF4-FFF2-40B4-BE49-F238E27FC236}">
                <a16:creationId xmlns:a16="http://schemas.microsoft.com/office/drawing/2014/main" id="{B1A549B2-468C-47D2-8419-9113B7CF1F04}"/>
              </a:ext>
            </a:extLst>
          </p:cNvPr>
          <p:cNvSpPr>
            <a:spLocks noGrp="1"/>
          </p:cNvSpPr>
          <p:nvPr/>
        </p:nvSpPr>
        <p:spPr>
          <a:xfrm>
            <a:off x="11620500" y="5934960"/>
            <a:ext cx="47625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9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%p </a:t>
            </a:r>
            <a:r>
              <a:rPr sz="3900" b="1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상승</a:t>
            </a:r>
            <a:endParaRPr sz="39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88.471%에서 96.931%&#10;&#10;기본 코드의 정확도는 미확인&#10;">
            <a:extLst>
              <a:ext uri="{FF2B5EF4-FFF2-40B4-BE49-F238E27FC236}">
                <a16:creationId xmlns:a16="http://schemas.microsoft.com/office/drawing/2014/main" id="{A12ABB17-C7BE-4A4B-A72E-67CE36A8A74F}"/>
              </a:ext>
            </a:extLst>
          </p:cNvPr>
          <p:cNvSpPr>
            <a:spLocks noGrp="1"/>
          </p:cNvSpPr>
          <p:nvPr/>
        </p:nvSpPr>
        <p:spPr>
          <a:xfrm>
            <a:off x="11620500" y="6429375"/>
            <a:ext cx="49530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3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endParaRPr sz="2325" b="0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7FA94BA-AD3C-404E-AA3A-BEB185BABDDD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293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977900" cy="2527300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0" y="9283700"/>
            <a:ext cx="977900" cy="1016000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0900" y="9283700"/>
            <a:ext cx="355600" cy="355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94F6E31-26F5-421F-9F2E-A7DABBB74138}"/>
              </a:ext>
            </a:extLst>
          </p:cNvPr>
          <p:cNvSpPr>
            <a:spLocks noGrp="1"/>
          </p:cNvSpPr>
          <p:nvPr/>
        </p:nvSpPr>
        <p:spPr>
          <a:xfrm>
            <a:off x="1838325" y="1543050"/>
            <a:ext cx="14620875" cy="1285875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2000"/>
              </a:lnSpc>
              <a:buNone/>
            </a:pPr>
            <a:r>
              <a:rPr sz="57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전략별 정확도와 적용 결과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E8423F-18B5-4212-8533-D16E356343CF}"/>
              </a:ext>
            </a:extLst>
          </p:cNvPr>
          <p:cNvSpPr>
            <a:spLocks noGrp="1"/>
          </p:cNvSpPr>
          <p:nvPr/>
        </p:nvSpPr>
        <p:spPr>
          <a:xfrm>
            <a:off x="15227300" y="685800"/>
            <a:ext cx="12319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sz="1800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21EA9E4-67D7-4793-8A9B-5EF5C8FE8020}"/>
              </a:ext>
            </a:extLst>
          </p:cNvPr>
          <p:cNvSpPr>
            <a:spLocks noGrp="1"/>
          </p:cNvSpPr>
          <p:nvPr/>
        </p:nvSpPr>
        <p:spPr>
          <a:xfrm>
            <a:off x="1841500" y="685800"/>
            <a:ext cx="90297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650" b="0" i="0" spc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성성성   /   텍스트 이미지 기반 질의응답 모델 개발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633A89-852F-44D5-8928-D86F55E5FF11}"/>
              </a:ext>
            </a:extLst>
          </p:cNvPr>
          <p:cNvSpPr>
            <a:spLocks noGrp="1"/>
          </p:cNvSpPr>
          <p:nvPr/>
        </p:nvSpPr>
        <p:spPr>
          <a:xfrm>
            <a:off x="13893800" y="9296400"/>
            <a:ext cx="2197100" cy="342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120000"/>
              </a:lnSpc>
              <a:buNone/>
            </a:pPr>
            <a:r>
              <a:rPr sz="1800" b="1" i="0" spc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성성성</a:t>
            </a:r>
          </a:p>
        </p:txBody>
      </p:sp>
      <p:graphicFrame>
        <p:nvGraphicFramePr>
          <p:cNvPr id="25" name="표 24"/>
          <p:cNvGraphicFramePr/>
          <p:nvPr>
            <p:extLst>
              <p:ext uri="{D42A27DB-BD31-4B8C-83A1-F6EECF244321}">
                <p14:modId xmlns:p14="http://schemas.microsoft.com/office/powerpoint/2010/main" val="2387401335"/>
              </p:ext>
            </p:extLst>
          </p:nvPr>
        </p:nvGraphicFramePr>
        <p:xfrm>
          <a:off x="1838325" y="3333750"/>
          <a:ext cx="14620875" cy="4163784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964"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  <a:r>
                        <a:rPr sz="2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  <a:endParaRPr sz="22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</a:t>
                      </a:r>
                      <a:endParaRPr sz="22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</a:t>
                      </a:r>
                      <a:r>
                        <a:rPr sz="2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  <a:endParaRPr sz="22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  <a:r>
                        <a:rPr sz="2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  <a:endParaRPr sz="22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964"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프로토타입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88.471%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Kaggle</a:t>
                      </a:r>
                      <a:r>
                        <a:rPr lang="ko-KR" altLang="en-US"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제출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강화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964"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8B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분류형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2에폭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95.224%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검증 670문항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최고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에폭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채택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964">
                <a:tc>
                  <a:txBody>
                    <a:bodyPr/>
                    <a:lstStyle/>
                    <a:p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8B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선택지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순열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TTA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95.522%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내부 검증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2개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964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8B 고해상도 재추론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95.522%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내부 검증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없어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미채택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964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32B 복합 개선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96.931%</a:t>
                      </a: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Kaggle</a:t>
                      </a:r>
                      <a:r>
                        <a:rPr lang="ko-KR" altLang="en-US"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</a:t>
                      </a:r>
                      <a:r>
                        <a:rPr sz="2250" b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250" b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</a:t>
                      </a:r>
                      <a:endParaRPr sz="2250" b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71450" marR="171450" marT="133350" marB="133350"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6">
            <a:extLst>
              <a:ext uri="{FF2B5EF4-FFF2-40B4-BE49-F238E27FC236}">
                <a16:creationId xmlns:a16="http://schemas.microsoft.com/office/drawing/2014/main" id="{7A2F9AFC-CF1C-427B-9293-78F05C19ED4D}"/>
              </a:ext>
            </a:extLst>
          </p:cNvPr>
          <p:cNvSpPr>
            <a:spLocks noGrp="1"/>
          </p:cNvSpPr>
          <p:nvPr/>
        </p:nvSpPr>
        <p:spPr>
          <a:xfrm>
            <a:off x="1838325" y="9267825"/>
            <a:ext cx="95250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000"/>
              </a:lnSpc>
              <a:buNone/>
            </a:pPr>
            <a:r>
              <a:rPr sz="1725" b="0" i="0" spc="0" dirty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SSAFY 16기 2회차 AI </a:t>
            </a:r>
            <a:r>
              <a:rPr sz="1725" b="0" i="0" spc="0" dirty="0" err="1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챌린지</a:t>
            </a:r>
            <a:endParaRPr sz="1725" b="0" i="0" spc="0" dirty="0">
              <a:solidFill>
                <a:srgbClr val="66666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32933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950</Words>
  <Application>Microsoft Office PowerPoint</Application>
  <DocSecurity>0</DocSecurity>
  <PresentationFormat>사용자 지정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Heebo ExtraLight</vt:lpstr>
      <vt:lpstr>Calibri</vt:lpstr>
      <vt:lpstr>Wingdings</vt:lpstr>
      <vt:lpstr>Lexend Bold</vt:lpstr>
      <vt:lpstr>Heebo ExtraBold</vt:lpstr>
      <vt:lpstr>맑은 고딕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SSAFY</cp:lastModifiedBy>
  <cp:revision>67</cp:revision>
  <dcterms:created xsi:type="dcterms:W3CDTF">2026-09-23T00:35:07Z</dcterms:created>
  <dcterms:modified xsi:type="dcterms:W3CDTF">2026-09-23T07:24:29Z</dcterms:modified>
</cp:coreProperties>
</file>